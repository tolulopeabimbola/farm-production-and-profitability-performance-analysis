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1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77240" y="1234440"/>
            <a:ext cx="7589520" cy="1280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FARM PRODUCTION
&amp; PROFITABILITY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95728"/>
            <a:ext cx="822960" cy="54864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54864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dirty="0">
                <a:solidFill>
                  <a:srgbClr val="FFFFFF"/>
                </a:solidFill>
                <a:latin typeface="Aptos"/>
              </a:rPr>
              <a:t>Prepared by </a:t>
            </a:r>
            <a:r>
              <a:rPr sz="1300" b="1" dirty="0" err="1">
                <a:solidFill>
                  <a:srgbClr val="FFFFFF"/>
                </a:solidFill>
                <a:latin typeface="Aptos"/>
              </a:rPr>
              <a:t>Abimbola</a:t>
            </a:r>
            <a:r>
              <a:rPr sz="13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Aptos"/>
              </a:rPr>
              <a:t>Tolulope</a:t>
            </a:r>
            <a:endParaRPr sz="13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54864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dirty="0">
                <a:solidFill>
                  <a:srgbClr val="C7D4D2"/>
                </a:solidFill>
                <a:latin typeface="Aptos"/>
              </a:rPr>
              <a:t>5,000 records  •  Nigerian naira (₦)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6400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39735A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8313B"/>
                </a:solidFill>
                <a:latin typeface="Aptos"/>
              </a:rPr>
              <a:t>The story in four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7899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6767A"/>
                </a:solidFill>
                <a:latin typeface="Aptos"/>
              </a:rPr>
              <a:t>The dataset reports high overall returns; the next step is to verify what drives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00200"/>
            <a:ext cx="11018520" cy="2286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>
                <a:solidFill>
                  <a:srgbClr val="66767A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260604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64008" cy="1170432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2103120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66767A"/>
                </a:solidFill>
                <a:latin typeface="Aptos"/>
              </a:rP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59152"/>
            <a:ext cx="233172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8313B"/>
                </a:solidFill>
                <a:latin typeface="Aptos"/>
              </a:rPr>
              <a:t>₦45.86bn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798064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67A"/>
                </a:solidFill>
                <a:latin typeface="Aptos"/>
              </a:rPr>
              <a:t>Recorded sales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965960"/>
            <a:ext cx="260604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29000" y="1965960"/>
            <a:ext cx="64008" cy="1170432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1880" y="2103120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66767A"/>
                </a:solidFill>
                <a:latin typeface="Aptos"/>
              </a:rPr>
              <a:t>PRODUCTION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359152"/>
            <a:ext cx="233172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8313B"/>
                </a:solidFill>
                <a:latin typeface="Aptos"/>
              </a:rPr>
              <a:t>₦11.89bn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798064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67A"/>
                </a:solidFill>
                <a:latin typeface="Aptos"/>
              </a:rPr>
              <a:t>Recorded costs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260604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1965960"/>
            <a:ext cx="64008" cy="1170432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2103120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66767A"/>
                </a:solidFill>
                <a:latin typeface="Aptos"/>
              </a:rP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359152"/>
            <a:ext cx="233172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8313B"/>
                </a:solidFill>
                <a:latin typeface="Aptos"/>
              </a:rPr>
              <a:t>₦33.97bn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798064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67A"/>
                </a:solidFill>
                <a:latin typeface="Aptos"/>
              </a:rPr>
              <a:t>Revenue less cost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1965960"/>
            <a:ext cx="251460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06840" y="1965960"/>
            <a:ext cx="64008" cy="1170432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89719" y="2103120"/>
            <a:ext cx="22402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66767A"/>
                </a:solidFill>
                <a:latin typeface="Aptos"/>
              </a:rPr>
              <a:t>PROFIT MARGIN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2359152"/>
            <a:ext cx="224028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8313B"/>
                </a:solidFill>
                <a:latin typeface="Aptos"/>
              </a:rPr>
              <a:t>74.1%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19" y="2798064"/>
            <a:ext cx="22402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67A"/>
                </a:solidFill>
                <a:latin typeface="Aptos"/>
              </a:rPr>
              <a:t>Weighted margin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657600"/>
            <a:ext cx="34747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3657600"/>
            <a:ext cx="54864" cy="1005840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392" y="3776472"/>
            <a:ext cx="318211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What stands 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" y="4059936"/>
            <a:ext cx="3182112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Tomato leads total crop profit.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0832" y="3657600"/>
            <a:ext cx="34747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70832" y="3657600"/>
            <a:ext cx="54864" cy="100584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35424" y="3776472"/>
            <a:ext cx="318211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Main cost pressure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5424" y="4059936"/>
            <a:ext cx="3182112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Labour is the largest cost category.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3657600"/>
            <a:ext cx="34747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046720" y="3657600"/>
            <a:ext cx="54864" cy="1005840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11312" y="3776472"/>
            <a:ext cx="318211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Decision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059936"/>
            <a:ext cx="3182112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Compare profit per hectare before expanding.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6400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39735A"/>
                </a:solidFill>
                <a:latin typeface="Aptos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8313B"/>
                </a:solidFill>
                <a:latin typeface="Aptos"/>
              </a:rPr>
              <a:t>What the dataset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7899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6767A"/>
                </a:solidFill>
                <a:latin typeface="Aptos"/>
              </a:rPr>
              <a:t>The analysis combines farm conditions, production outcomes and financial measures.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00200"/>
            <a:ext cx="11018520" cy="2286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>
                <a:solidFill>
                  <a:srgbClr val="66767A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20040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64008" cy="1170432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2926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66767A"/>
                </a:solidFill>
                <a:latin typeface="Aptos"/>
              </a:rPr>
              <a:t>FARM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04872"/>
            <a:ext cx="292608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8313B"/>
                </a:solidFill>
                <a:latin typeface="Aptos"/>
              </a:rPr>
              <a:t>5,000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43784"/>
            <a:ext cx="2926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67A"/>
                </a:solidFill>
                <a:latin typeface="Aptos"/>
              </a:rPr>
              <a:t>Rows in supplied workbook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011680"/>
            <a:ext cx="320040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2011680"/>
            <a:ext cx="64008" cy="1170432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2148840"/>
            <a:ext cx="2926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66767A"/>
                </a:solidFill>
                <a:latin typeface="Aptos"/>
              </a:rPr>
              <a:t>FIELDS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404872"/>
            <a:ext cx="292608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8313B"/>
                </a:solidFill>
                <a:latin typeface="Aptos"/>
              </a:rPr>
              <a:t>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843784"/>
            <a:ext cx="2926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67A"/>
                </a:solidFill>
                <a:latin typeface="Aptos"/>
              </a:rPr>
              <a:t>Columns / variables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011680"/>
            <a:ext cx="320040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2011680"/>
            <a:ext cx="64008" cy="1170432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2148840"/>
            <a:ext cx="2926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66767A"/>
                </a:solidFill>
                <a:latin typeface="Aptos"/>
              </a:rPr>
              <a:t>TOTAL 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404872"/>
            <a:ext cx="292608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8313B"/>
                </a:solidFill>
                <a:latin typeface="Aptos"/>
              </a:rPr>
              <a:t>136.3k 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843784"/>
            <a:ext cx="2926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67A"/>
                </a:solidFill>
                <a:latin typeface="Aptos"/>
              </a:rPr>
              <a:t>Recorded tonnes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794760"/>
            <a:ext cx="34290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7240" y="3794760"/>
            <a:ext cx="54864" cy="1097280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" y="3913632"/>
            <a:ext cx="313639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Farm 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197096"/>
            <a:ext cx="3136392" cy="6492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State, region, crop, farm size and experience.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794760"/>
            <a:ext cx="34290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89120" y="3794760"/>
            <a:ext cx="54864" cy="109728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53712" y="3913632"/>
            <a:ext cx="313639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Production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4197096"/>
            <a:ext cx="3136392" cy="6492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Season, irrigation, fertiliser and other inputs.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3794760"/>
            <a:ext cx="34290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01000" y="3794760"/>
            <a:ext cx="54864" cy="1097280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65592" y="3913632"/>
            <a:ext cx="313639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Financials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5592" y="4197096"/>
            <a:ext cx="3136392" cy="6492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Cost, revenue, profit and margin.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394960"/>
            <a:ext cx="105156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18313B"/>
                </a:solidFill>
                <a:latin typeface="Aptos"/>
              </a:rPr>
              <a:t>Interpretation: useful for exploring patterns, but not proof of real-world national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6400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39735A"/>
                </a:solidFill>
                <a:latin typeface="Aptos"/>
              </a:rPr>
              <a:t>CROP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7937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8313B"/>
                </a:solidFill>
                <a:latin typeface="Aptos"/>
              </a:rPr>
              <a:t>Tomato leads total crop profit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7899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6767A"/>
                </a:solidFill>
                <a:latin typeface="Aptos"/>
              </a:rPr>
              <a:t>Total profit reflects both crop economics and the scale of production.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00200"/>
            <a:ext cx="11018520" cy="2286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>
                <a:solidFill>
                  <a:srgbClr val="66767A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057400"/>
            <a:ext cx="374903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35240" y="2057400"/>
            <a:ext cx="54864" cy="1143000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99831" y="2176272"/>
            <a:ext cx="345643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Top crop: Tomato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9831" y="2459736"/>
            <a:ext cx="3456432" cy="6949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₦9.07bn total profit
₦4.81m profit per hectare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3520440"/>
            <a:ext cx="3749039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35240" y="3520440"/>
            <a:ext cx="54864" cy="96012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99831" y="3639312"/>
            <a:ext cx="345643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Lowest total profit: Sorghum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1" y="3922776"/>
            <a:ext cx="3456432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₦726.9m total profit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800600"/>
            <a:ext cx="3749039" cy="777240"/>
          </a:xfrm>
          <a:prstGeom prst="roundRect">
            <a:avLst/>
          </a:prstGeom>
          <a:solidFill>
            <a:srgbClr val="E7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18120" y="4937760"/>
            <a:ext cx="338328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8313B"/>
                </a:solidFill>
                <a:latin typeface="Aptos"/>
              </a:rPr>
              <a:t>Recommendation: compare yield, selling price and cost per hectare before changing crop allocation.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831016"/>
            <a:ext cx="6175718" cy="37468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6400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39735A"/>
                </a:solidFill>
                <a:latin typeface="Aptos"/>
              </a:rPr>
              <a:t>COST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8313B"/>
                </a:solidFill>
                <a:latin typeface="Aptos"/>
              </a:rPr>
              <a:t>Focus cost control on three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7899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6767A"/>
                </a:solidFill>
                <a:latin typeface="Aptos"/>
              </a:rPr>
              <a:t>Labour, fertiliser and transport together make up a large share of recorded costs.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00200"/>
            <a:ext cx="11018520" cy="2286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>
                <a:solidFill>
                  <a:srgbClr val="66767A"/>
                </a:solidFill>
                <a:latin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965960"/>
            <a:ext cx="3886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543800" y="1965960"/>
            <a:ext cx="54864" cy="914400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08392" y="2084831"/>
            <a:ext cx="359359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Labour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2368296"/>
            <a:ext cx="3593592" cy="466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₦3.49bn • 29.4% of 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108960"/>
            <a:ext cx="3886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3108960"/>
            <a:ext cx="54864" cy="91440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08392" y="3227832"/>
            <a:ext cx="359359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Fertiliser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3511296"/>
            <a:ext cx="3593592" cy="466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₦2.94bn • 24.8% of cost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4251960"/>
            <a:ext cx="3886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43800" y="4251960"/>
            <a:ext cx="54864" cy="914400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08392" y="4370832"/>
            <a:ext cx="359359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Transport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4654296"/>
            <a:ext cx="3593592" cy="466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₦2.06bn • 17.4% of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8313B"/>
                </a:solidFill>
                <a:latin typeface="Aptos"/>
              </a:rPr>
              <a:t>Recommendation: track cost per hectare and per tonne; negotiate rates and improve planning without reducing yield.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2130552"/>
            <a:ext cx="6597748" cy="3217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6400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39735A"/>
                </a:solidFill>
                <a:latin typeface="Aptos"/>
              </a:rPr>
              <a:t>YIELD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8313B"/>
                </a:solidFill>
                <a:latin typeface="Aptos"/>
              </a:rPr>
              <a:t>Irrigated records show higher average yield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7899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6767A"/>
                </a:solidFill>
                <a:latin typeface="Aptos"/>
              </a:rPr>
              <a:t>The pattern appears in both seasons, but does not prove irrigation alone caused the difference.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00200"/>
            <a:ext cx="11018520" cy="2286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>
                <a:solidFill>
                  <a:srgbClr val="66767A"/>
                </a:solidFill>
                <a:latin typeface="Aptos"/>
              </a:rPr>
              <a:t>06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894388"/>
            <a:ext cx="3566160" cy="1284908"/>
          </a:xfrm>
          <a:prstGeom prst="roundRect">
            <a:avLst/>
          </a:prstGeom>
          <a:solidFill>
            <a:srgbClr val="E7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2322222"/>
            <a:ext cx="32004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dirty="0">
                <a:solidFill>
                  <a:srgbClr val="18313B"/>
                </a:solidFill>
                <a:latin typeface="Aptos"/>
              </a:rPr>
              <a:t>Recommendation: pilot irrigation and include water, energy and maintenance costs.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864" y="3179296"/>
            <a:ext cx="6382512" cy="33639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6400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39735A"/>
                </a:solidFill>
                <a:latin typeface="Aptos"/>
              </a:rPr>
              <a:t>GEOGRAPHIC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8313B"/>
                </a:solidFill>
                <a:latin typeface="Aptos"/>
              </a:rPr>
              <a:t>Regional totals need a fair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7899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6767A"/>
                </a:solidFill>
                <a:latin typeface="Aptos"/>
              </a:rPr>
              <a:t>Total profit and profit per hectare answer different questions.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00200"/>
            <a:ext cx="11018520" cy="2286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>
                <a:solidFill>
                  <a:srgbClr val="66767A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34290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54864" cy="1188720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176272"/>
            <a:ext cx="313639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Highest total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459736"/>
            <a:ext cx="3136392" cy="7406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North Central
₦7.90bn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57400"/>
            <a:ext cx="34290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057400"/>
            <a:ext cx="54864" cy="118872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2176272"/>
            <a:ext cx="313639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Highest profit / hectare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459736"/>
            <a:ext cx="3136392" cy="7406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North West
₦1.59m/ha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57400"/>
            <a:ext cx="34290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2057400"/>
            <a:ext cx="54864" cy="1188720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2" y="2176272"/>
            <a:ext cx="313639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Top state by total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459736"/>
            <a:ext cx="3136392" cy="7406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Ogun
₦1.48bn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069080"/>
            <a:ext cx="105613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251960"/>
            <a:ext cx="1645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39735A"/>
                </a:solidFill>
                <a:latin typeface="Aptos"/>
              </a:rPr>
              <a:t>Recommendation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206240"/>
            <a:ext cx="82296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23343B"/>
                </a:solidFill>
                <a:latin typeface="Aptos"/>
              </a:rPr>
              <a:t>Compare crop mix, selling price, yield and cost per hectare before transferring practices between locations.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6400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39735A"/>
                </a:solidFill>
                <a:latin typeface="Aptos"/>
              </a:rPr>
              <a:t>MARKET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8313B"/>
                </a:solidFill>
                <a:latin typeface="Aptos"/>
              </a:rPr>
              <a:t>Test logistics before investing in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7899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6767A"/>
                </a:solidFill>
                <a:latin typeface="Aptos"/>
              </a:rPr>
              <a:t>Storage status alone does not show storage quality, capacity or losses prevented.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00200"/>
            <a:ext cx="11018520" cy="2286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>
                <a:solidFill>
                  <a:srgbClr val="66767A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20040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64008" cy="1170432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2926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66767A"/>
                </a:solidFill>
                <a:latin typeface="Aptos"/>
              </a:rPr>
              <a:t>AVERAGE PROFIT WITH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04872"/>
            <a:ext cx="292608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8313B"/>
                </a:solidFill>
                <a:latin typeface="Aptos"/>
              </a:rPr>
              <a:t>₦6.79m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43784"/>
            <a:ext cx="2926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67A"/>
                </a:solidFill>
                <a:latin typeface="Aptos"/>
              </a:rPr>
              <a:t>Per record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011680"/>
            <a:ext cx="320040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2011680"/>
            <a:ext cx="64008" cy="1170432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2148840"/>
            <a:ext cx="2926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66767A"/>
                </a:solidFill>
                <a:latin typeface="Aptos"/>
              </a:rPr>
              <a:t>AVERAGE PROFIT WITHOUT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404872"/>
            <a:ext cx="292608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8313B"/>
                </a:solidFill>
                <a:latin typeface="Aptos"/>
              </a:rPr>
              <a:t>₦6.80m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843784"/>
            <a:ext cx="2926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67A"/>
                </a:solidFill>
                <a:latin typeface="Aptos"/>
              </a:rPr>
              <a:t>Per record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011680"/>
            <a:ext cx="320040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2011680"/>
            <a:ext cx="64008" cy="1170432"/>
          </a:xfrm>
          <a:prstGeom prst="rect">
            <a:avLst/>
          </a:prstGeom>
          <a:solidFill>
            <a:srgbClr val="B95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2148840"/>
            <a:ext cx="2926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66767A"/>
                </a:solidFill>
                <a:latin typeface="Aptos"/>
              </a:rPr>
              <a:t>LOSS-MAKING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404872"/>
            <a:ext cx="292608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8313B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843784"/>
            <a:ext cx="2926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67A"/>
                </a:solidFill>
                <a:latin typeface="Aptos"/>
              </a:rPr>
              <a:t>Investigate costs and prices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749039"/>
            <a:ext cx="49377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2960" y="3749039"/>
            <a:ext cx="54864" cy="1051560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" y="3867911"/>
            <a:ext cx="464515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What the data suggests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4151376"/>
            <a:ext cx="4645152" cy="60350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Average profit is almost the same across storage groups.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3749039"/>
            <a:ext cx="49377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35040" y="3749039"/>
            <a:ext cx="54864" cy="105156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99631" y="3867911"/>
            <a:ext cx="464515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What to 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1" y="4151376"/>
            <a:ext cx="4645152" cy="60350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Trial shared transport or collection points; measure cost per tonne and spoilage.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6400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39735A"/>
                </a:solidFill>
                <a:latin typeface="Aptos"/>
              </a:rP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8313B"/>
                </a:solidFill>
                <a:latin typeface="Aptos"/>
              </a:rPr>
              <a:t>Recommended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7899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6767A"/>
                </a:solidFill>
                <a:latin typeface="Aptos"/>
              </a:rPr>
              <a:t>Start with actions that are measurable and relatively easy to test.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00200"/>
            <a:ext cx="11018520" cy="2286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>
                <a:solidFill>
                  <a:srgbClr val="66767A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7790" y="1937120"/>
            <a:ext cx="4445391" cy="261659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19" y="1828800"/>
            <a:ext cx="56271" cy="2839212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83212" y="2144268"/>
            <a:ext cx="3854547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Prioritise</a:t>
            </a:r>
            <a:r>
              <a:rPr lang="en-US" dirty="0"/>
              <a:t> Profitable Crop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Control the Biggest Costs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Invest in Irrigation Strategically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Reduces Transport  Expenses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Investigate Loss-Making Farms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1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29264" y="1792098"/>
            <a:ext cx="8690317" cy="15142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US" sz="9600" b="1" dirty="0">
                <a:solidFill>
                  <a:srgbClr val="FFFFFF"/>
                </a:solidFill>
                <a:latin typeface="Arial Black" panose="020B0A04020102020204" pitchFamily="34" charset="0"/>
              </a:rPr>
              <a:t>THANK YOU</a:t>
            </a:r>
            <a:endParaRPr sz="96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60023" y="3481753"/>
            <a:ext cx="914400" cy="54864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897880"/>
            <a:ext cx="6400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dirty="0">
                <a:solidFill>
                  <a:srgbClr val="FFFFFF"/>
                </a:solidFill>
                <a:latin typeface="Aptos"/>
              </a:rPr>
              <a:t>Prepared by </a:t>
            </a:r>
            <a:r>
              <a:rPr sz="1100" b="1" dirty="0" err="1">
                <a:solidFill>
                  <a:srgbClr val="FFFFFF"/>
                </a:solidFill>
                <a:latin typeface="Aptos"/>
              </a:rPr>
              <a:t>Abimbola</a:t>
            </a:r>
            <a:r>
              <a:rPr sz="11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tos"/>
              </a:rPr>
              <a:t>Tolulope</a:t>
            </a:r>
            <a:endParaRPr sz="1100" b="1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502</Words>
  <Application>Microsoft Office PowerPoint</Application>
  <PresentationFormat>Widescreen</PresentationFormat>
  <Paragraphs>110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Ayomidipupo</dc:creator>
  <cp:keywords/>
  <dc:description>generated using python-pptx</dc:description>
  <cp:lastModifiedBy>Admin</cp:lastModifiedBy>
  <cp:revision>10</cp:revision>
  <dcterms:created xsi:type="dcterms:W3CDTF">2013-01-27T09:14:16Z</dcterms:created>
  <dcterms:modified xsi:type="dcterms:W3CDTF">2026-10-13T13:24:49Z</dcterms:modified>
  <cp:category/>
</cp:coreProperties>
</file>